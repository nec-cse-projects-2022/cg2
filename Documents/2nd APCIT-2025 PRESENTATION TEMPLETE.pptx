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266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234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0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725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216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98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026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47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7316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643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27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5516D7-1BE4-42FF-915C-DF82BCB40BA1}" type="datetimeFigureOut">
              <a:rPr lang="en-US" smtClean="0"/>
              <a:t>9/19/2025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F4498D-634D-45F6-B65F-DB7A81CF5F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769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988" y="1474665"/>
            <a:ext cx="12126012" cy="882698"/>
          </a:xfrm>
        </p:spPr>
        <p:txBody>
          <a:bodyPr>
            <a:normAutofit fontScale="90000"/>
          </a:bodyPr>
          <a:lstStyle/>
          <a:p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2025 2nd Asia Pacific Conference on Innovation in Technology (APCIT)</a:t>
            </a:r>
            <a:endParaRPr lang="en-US" sz="4000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4376" y="2931223"/>
            <a:ext cx="9144000" cy="3429000"/>
          </a:xfrm>
        </p:spPr>
        <p:txBody>
          <a:bodyPr>
            <a:normAutofit fontScale="92500" lnSpcReduction="10000"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Hybrid Resampling-Driven Deep Learning Architecture for Cardiovascular Risk Stratification</a:t>
            </a:r>
            <a:br>
              <a:rPr lang="en-GB" sz="40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Paper ID: </a:t>
            </a:r>
            <a:r>
              <a:rPr lang="en-GB" b="1" spc="-1" dirty="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1693</a:t>
            </a:r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PRESENTER NAME </a:t>
            </a:r>
            <a:r>
              <a:rPr lang="en-GB" b="1" spc="-1" dirty="0">
                <a:solidFill>
                  <a:srgbClr val="4C4C4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GB" b="1" spc="-1" dirty="0">
                <a:solidFill>
                  <a:srgbClr val="4C4C4C"/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Thogati Adi Lakshmi</a:t>
            </a:r>
          </a:p>
          <a:p>
            <a:r>
              <a:rPr lang="en-GB" b="1" spc="-1" dirty="0">
                <a:solidFill>
                  <a:srgbClr val="4C4C4C"/>
                </a:solidFill>
                <a:latin typeface="Arial"/>
              </a:rPr>
              <a:t>Affiliation : </a:t>
            </a:r>
            <a:r>
              <a:rPr lang="en-US" b="1" spc="-1" dirty="0">
                <a:solidFill>
                  <a:srgbClr val="4C4C4C"/>
                </a:solidFill>
                <a:latin typeface="Arial"/>
              </a:rPr>
              <a:t>Department of Computer Science &amp; Engineering, Narasaraopeta Engineering College, Guntur, Andhra Pradesh</a:t>
            </a:r>
            <a:endParaRPr lang="en-GB" b="1" spc="-1" dirty="0">
              <a:solidFill>
                <a:srgbClr val="4C4C4C"/>
              </a:solidFill>
              <a:latin typeface="Arial"/>
            </a:endParaRPr>
          </a:p>
          <a:p>
            <a:endParaRPr lang="en-GB" b="1" spc="-1" dirty="0">
              <a:solidFill>
                <a:srgbClr val="4C4C4C"/>
              </a:solidFill>
              <a:latin typeface="Arial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30741" y="44777"/>
            <a:ext cx="3195271" cy="11100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393BC7-D4D5-0FB2-D558-2E18426673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678" y="44777"/>
            <a:ext cx="984506" cy="11521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2BC6F6-3279-E21A-952A-B051A6AF83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381" y="19092"/>
            <a:ext cx="3469479" cy="97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4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Contents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41680"/>
            <a:ext cx="10515600" cy="51297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sz="2000" dirty="0"/>
          </a:p>
          <a:p>
            <a:r>
              <a:rPr lang="en-IN" sz="2400" dirty="0"/>
              <a:t>Introduction</a:t>
            </a:r>
          </a:p>
          <a:p>
            <a:r>
              <a:rPr lang="en-IN" sz="2400" dirty="0"/>
              <a:t>Research Gaps &amp; Our Solutions</a:t>
            </a:r>
          </a:p>
          <a:p>
            <a:r>
              <a:rPr lang="en-IN" sz="2400" dirty="0"/>
              <a:t>Dataset &amp; Preprocessing</a:t>
            </a:r>
          </a:p>
          <a:p>
            <a:r>
              <a:rPr lang="en-IN" sz="2400" dirty="0"/>
              <a:t>Hybrid Resampling + Feature Engineering</a:t>
            </a:r>
          </a:p>
          <a:p>
            <a:r>
              <a:rPr lang="en-IN" sz="2400" dirty="0"/>
              <a:t>Deep Learning Models</a:t>
            </a:r>
          </a:p>
          <a:p>
            <a:r>
              <a:rPr lang="en-IN" sz="2400" dirty="0"/>
              <a:t>Results (Comparison of Models)</a:t>
            </a:r>
          </a:p>
          <a:p>
            <a:r>
              <a:rPr lang="en-IN" sz="2400" dirty="0"/>
              <a:t>SHAP Explainability</a:t>
            </a:r>
          </a:p>
          <a:p>
            <a:r>
              <a:rPr lang="en-IN" sz="2400" dirty="0"/>
              <a:t>Conclusion</a:t>
            </a:r>
          </a:p>
          <a:p>
            <a:r>
              <a:rPr lang="en-IN" sz="2400" dirty="0"/>
              <a:t>Future Work</a:t>
            </a:r>
          </a:p>
          <a:p>
            <a:endParaRPr lang="en-IN" sz="20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08717B0-0BEA-054A-9E95-512B69EA6EC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1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8ACF-4815-E507-D36B-85B06997B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5600"/>
            <a:ext cx="10515600" cy="1016002"/>
          </a:xfrm>
        </p:spPr>
        <p:txBody>
          <a:bodyPr/>
          <a:lstStyle/>
          <a:p>
            <a:r>
              <a:rPr lang="en-IN" b="1" dirty="0"/>
              <a:t>Introduction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F314F51-1F8E-E590-F63D-B12C5BD0D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1601"/>
            <a:ext cx="10327640" cy="4541520"/>
          </a:xfrm>
        </p:spPr>
        <p:txBody>
          <a:bodyPr/>
          <a:lstStyle/>
          <a:p>
            <a:r>
              <a:rPr lang="en-US" dirty="0"/>
              <a:t>Cardiovascular Diseases (CVDs) → </a:t>
            </a:r>
            <a:r>
              <a:rPr lang="en-US" b="1" dirty="0"/>
              <a:t>18M deaths/year</a:t>
            </a:r>
            <a:r>
              <a:rPr lang="en-US" dirty="0"/>
              <a:t> worldwide.</a:t>
            </a:r>
          </a:p>
          <a:p>
            <a:r>
              <a:rPr lang="en-US" dirty="0"/>
              <a:t>Early prediction = critical for prevention.</a:t>
            </a:r>
          </a:p>
          <a:p>
            <a:r>
              <a:rPr lang="en-US" dirty="0"/>
              <a:t>Traditional ML: good accuracy, but </a:t>
            </a:r>
            <a:r>
              <a:rPr lang="en-US" b="1" dirty="0"/>
              <a:t>linear + non-explainable</a:t>
            </a:r>
            <a:r>
              <a:rPr lang="en-US" dirty="0"/>
              <a:t>.</a:t>
            </a:r>
          </a:p>
          <a:p>
            <a:r>
              <a:rPr lang="en-US" dirty="0"/>
              <a:t>Deep Learning: powerful but often </a:t>
            </a:r>
            <a:r>
              <a:rPr lang="en-US" b="1" dirty="0"/>
              <a:t>black-box</a:t>
            </a:r>
            <a:r>
              <a:rPr lang="en-US" dirty="0"/>
              <a:t> &amp; biased on imbalance.</a:t>
            </a:r>
          </a:p>
          <a:p>
            <a:r>
              <a:rPr lang="en-US" b="1" dirty="0"/>
              <a:t>Goal:</a:t>
            </a:r>
            <a:r>
              <a:rPr lang="en-US" dirty="0"/>
              <a:t> Build an </a:t>
            </a:r>
            <a:r>
              <a:rPr lang="en-US" b="1" dirty="0"/>
              <a:t>accurate + interpretable DL pipeline</a:t>
            </a:r>
            <a:r>
              <a:rPr lang="en-US" dirty="0"/>
              <a:t> for CVD prediction.</a:t>
            </a:r>
            <a:endParaRPr lang="en-US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9018A15-BEB5-1171-EF42-06CB7B5E658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452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2C56F-8E27-2D51-FC4D-81CCFA640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6817"/>
          </a:xfrm>
        </p:spPr>
        <p:txBody>
          <a:bodyPr/>
          <a:lstStyle/>
          <a:p>
            <a:r>
              <a:rPr lang="en-IN" b="1" dirty="0"/>
              <a:t>Research Gaps &amp; Our Solutions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E1798F-5748-E8CE-CBBE-59D6A0C7A4F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046A7F4-5981-30EA-C124-D60ABADB35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721091"/>
              </p:ext>
            </p:extLst>
          </p:nvPr>
        </p:nvGraphicFramePr>
        <p:xfrm>
          <a:off x="1026694" y="1267326"/>
          <a:ext cx="10700422" cy="4397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717">
                  <a:extLst>
                    <a:ext uri="{9D8B030D-6E8A-4147-A177-3AD203B41FA5}">
                      <a16:colId xmlns:a16="http://schemas.microsoft.com/office/drawing/2014/main" val="3597849954"/>
                    </a:ext>
                  </a:extLst>
                </a:gridCol>
                <a:gridCol w="5221705">
                  <a:extLst>
                    <a:ext uri="{9D8B030D-6E8A-4147-A177-3AD203B41FA5}">
                      <a16:colId xmlns:a16="http://schemas.microsoft.com/office/drawing/2014/main" val="2243559651"/>
                    </a:ext>
                  </a:extLst>
                </a:gridCol>
              </a:tblGrid>
              <a:tr h="6577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b="1" dirty="0"/>
                        <a:t>Research Gap</a:t>
                      </a:r>
                      <a:endParaRPr lang="en-IN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IN" sz="2000" dirty="0"/>
                    </a:p>
                    <a:p>
                      <a:r>
                        <a:rPr lang="en-IN" sz="2000" dirty="0"/>
                        <a:t>Our Solution (Implemented)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2693453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G1: Traditional ML used → poor deep feature learning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Implemented </a:t>
                      </a:r>
                      <a:r>
                        <a:rPr lang="en-IN" sz="2000" b="1" dirty="0"/>
                        <a:t>5 deep models</a:t>
                      </a:r>
                      <a:r>
                        <a:rPr lang="en-IN" sz="2000" dirty="0"/>
                        <a:t> (TabNet, CNN+BiLSTM, MLP, Attention-LSTM, 1D CNN)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2469319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G2: Small datasets in prior works → poor generalizability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Used </a:t>
                      </a:r>
                      <a:r>
                        <a:rPr lang="en-US" sz="2000" b="1" dirty="0"/>
                        <a:t>Sulianova CVD dataset (70K records)</a:t>
                      </a:r>
                      <a:r>
                        <a:rPr lang="en-US" sz="2000" dirty="0"/>
                        <a:t> with strict cleaning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221700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G3: Class imbalance ignored → biased predictions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Applied </a:t>
                      </a:r>
                      <a:r>
                        <a:rPr lang="en-US" sz="2000" b="1" dirty="0"/>
                        <a:t>Hybrid Resampling (SMOTE + ENN)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505511"/>
                  </a:ext>
                </a:extLst>
              </a:tr>
              <a:tr h="924025">
                <a:tc>
                  <a:txBody>
                    <a:bodyPr/>
                    <a:lstStyle/>
                    <a:p>
                      <a:r>
                        <a:rPr lang="en-US" sz="2000" dirty="0"/>
                        <a:t>G4: Explainability limited to single models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Applied </a:t>
                      </a:r>
                      <a:r>
                        <a:rPr lang="en-US" sz="2000" b="1" dirty="0"/>
                        <a:t>SHAP</a:t>
                      </a:r>
                      <a:r>
                        <a:rPr lang="en-US" sz="2000" dirty="0"/>
                        <a:t> on TabNet, MLP, CNN+BiLSTM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6514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0972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3807B-D021-1537-BF3F-22812F1C3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IN" b="1" dirty="0"/>
              <a:t>Dataset &amp; Preprocessing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C4B63-740E-3B16-D334-DFC2D0707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59833"/>
            <a:ext cx="10515600" cy="4493928"/>
          </a:xfrm>
        </p:spPr>
        <p:txBody>
          <a:bodyPr/>
          <a:lstStyle/>
          <a:p>
            <a:r>
              <a:rPr lang="en-US" b="1" dirty="0"/>
              <a:t>Dataset:</a:t>
            </a:r>
            <a:r>
              <a:rPr lang="en-US" dirty="0"/>
              <a:t> Sulianova CVD (70,000 patient records, 11 features).</a:t>
            </a:r>
          </a:p>
          <a:p>
            <a:r>
              <a:rPr lang="en-US" dirty="0"/>
              <a:t>Cleaning: Removed outliers in BP, height, weight.</a:t>
            </a:r>
          </a:p>
          <a:p>
            <a:r>
              <a:rPr lang="en-IN" dirty="0"/>
              <a:t>Scaling: Standardized numerical features.</a:t>
            </a:r>
          </a:p>
          <a:p>
            <a:r>
              <a:rPr lang="en-IN" dirty="0"/>
              <a:t>Derived Features:</a:t>
            </a:r>
          </a:p>
          <a:p>
            <a:pPr marL="0" indent="0">
              <a:buNone/>
            </a:pPr>
            <a:r>
              <a:rPr lang="en-IN" dirty="0"/>
              <a:t>               1. BMI = weight / (height²)</a:t>
            </a:r>
          </a:p>
          <a:p>
            <a:pPr marL="0" indent="0">
              <a:buNone/>
            </a:pPr>
            <a:r>
              <a:rPr lang="en-IN" dirty="0"/>
              <a:t>               2. </a:t>
            </a:r>
            <a:r>
              <a:rPr lang="it-IT" dirty="0"/>
              <a:t>Pulse Pressure = ap_hi – ap_lo</a:t>
            </a:r>
          </a:p>
          <a:p>
            <a:r>
              <a:rPr lang="en-US" dirty="0"/>
              <a:t>Target: cardio (0 = No CVD, 1 = CVD).</a:t>
            </a:r>
            <a:endParaRPr lang="it-IT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D565F0E-1AB9-1FB1-12E4-86FC3A4D7C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03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26BB3-51BD-32B9-C8F0-9B6B3C3C7368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Hybrid Resampling + Feature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DE7BC-01EF-3CAD-BB7B-3D821AFBD209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8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Problem: Class imbalance (majority = “No CVD”).</a:t>
            </a:r>
          </a:p>
          <a:p>
            <a:r>
              <a:rPr lang="en-US" dirty="0"/>
              <a:t>Solution: </a:t>
            </a:r>
            <a:r>
              <a:rPr lang="en-US" b="1" dirty="0"/>
              <a:t>SMOTEENN</a:t>
            </a:r>
            <a:r>
              <a:rPr lang="en-US" dirty="0"/>
              <a:t> (oversample minority + clean noisy samples).</a:t>
            </a:r>
          </a:p>
          <a:p>
            <a:r>
              <a:rPr lang="en-US" dirty="0"/>
              <a:t>Effect: Balanced dataset → improved learning.</a:t>
            </a:r>
          </a:p>
          <a:p>
            <a:r>
              <a:rPr lang="en-US" dirty="0"/>
              <a:t>Feature Selection: </a:t>
            </a:r>
            <a:r>
              <a:rPr lang="en-US" b="1" dirty="0"/>
              <a:t>SelectKBest</a:t>
            </a:r>
            <a:r>
              <a:rPr lang="en-US" dirty="0"/>
              <a:t> → top informative features.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04CCE6-F3FB-2145-B6A1-C44C82AD4E8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885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87600-CA43-4BA6-4655-9CD849C37086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/>
              <a:t>Deep Learning Models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55312-B375-0AC1-FB08-431733A8ABEB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8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TabNet:</a:t>
            </a:r>
            <a:r>
              <a:rPr lang="en-IN" dirty="0"/>
              <a:t> Sequential attention, interpretable for tabular data.</a:t>
            </a:r>
          </a:p>
          <a:p>
            <a:r>
              <a:rPr lang="en-US" b="1" dirty="0"/>
              <a:t>CNN+BiLSTM:</a:t>
            </a:r>
            <a:r>
              <a:rPr lang="en-US" dirty="0"/>
              <a:t> Combines spatial + temporal feature extraction.</a:t>
            </a:r>
          </a:p>
          <a:p>
            <a:r>
              <a:rPr lang="en-US" b="1" dirty="0"/>
              <a:t>MLP:</a:t>
            </a:r>
            <a:r>
              <a:rPr lang="en-US" dirty="0"/>
              <a:t> Baseline fully connected network.</a:t>
            </a:r>
          </a:p>
          <a:p>
            <a:r>
              <a:rPr lang="en-US" b="1" dirty="0"/>
              <a:t>Attention-LSTM:</a:t>
            </a:r>
            <a:r>
              <a:rPr lang="en-US" dirty="0"/>
              <a:t> Sequence modeling with attention mechanism.</a:t>
            </a:r>
          </a:p>
          <a:p>
            <a:r>
              <a:rPr lang="fr-FR" b="1" dirty="0"/>
              <a:t>1D CNN:</a:t>
            </a:r>
            <a:r>
              <a:rPr lang="fr-FR" dirty="0"/>
              <a:t> Fast &amp; efficient convolutional model.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776CF-177A-E633-7C30-7CDBE507B40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6627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6700E87-A62A-2E27-F70A-DE517A601B04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R</a:t>
            </a:r>
            <a:r>
              <a:rPr lang="en-IN" b="1" dirty="0"/>
              <a:t>esults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C9B91F1-369B-A958-F796-A4C0FC9215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5B3EC39-D605-F054-2068-DCAE3E5FC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7921691"/>
              </p:ext>
            </p:extLst>
          </p:nvPr>
        </p:nvGraphicFramePr>
        <p:xfrm>
          <a:off x="838200" y="1690688"/>
          <a:ext cx="10515600" cy="40497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3017557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7753246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61779371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173596908"/>
                    </a:ext>
                  </a:extLst>
                </a:gridCol>
              </a:tblGrid>
              <a:tr h="6749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 dirty="0"/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F1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AUC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561401"/>
                  </a:ext>
                </a:extLst>
              </a:tr>
              <a:tr h="674952">
                <a:tc>
                  <a:txBody>
                    <a:bodyPr/>
                    <a:lstStyle/>
                    <a:p>
                      <a:r>
                        <a:rPr lang="en-IN" sz="2000" dirty="0"/>
                        <a:t>TabNet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96.19%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0.9916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749325"/>
                  </a:ext>
                </a:extLst>
              </a:tr>
              <a:tr h="674952">
                <a:tc>
                  <a:txBody>
                    <a:bodyPr/>
                    <a:lstStyle/>
                    <a:p>
                      <a:r>
                        <a:rPr lang="en-IN" sz="2000" dirty="0"/>
                        <a:t>MLP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96.08%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0.9613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7293196"/>
                  </a:ext>
                </a:extLst>
              </a:tr>
              <a:tr h="674952">
                <a:tc>
                  <a:txBody>
                    <a:bodyPr/>
                    <a:lstStyle/>
                    <a:p>
                      <a:r>
                        <a:rPr lang="en-IN" sz="2000" dirty="0"/>
                        <a:t>CNN+BiLSTM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95.71%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0.9580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8667748"/>
                  </a:ext>
                </a:extLst>
              </a:tr>
              <a:tr h="674952">
                <a:tc>
                  <a:txBody>
                    <a:bodyPr/>
                    <a:lstStyle/>
                    <a:p>
                      <a:r>
                        <a:rPr lang="en-IN" sz="2000" dirty="0"/>
                        <a:t>Attention-LSTM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95.65%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0.9904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022926"/>
                  </a:ext>
                </a:extLst>
              </a:tr>
              <a:tr h="674952">
                <a:tc>
                  <a:txBody>
                    <a:bodyPr/>
                    <a:lstStyle/>
                    <a:p>
                      <a:r>
                        <a:rPr lang="en-IN" sz="2000" dirty="0"/>
                        <a:t>1D CNN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94.66%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0.9477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0.9870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6033006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024E11A3-BB23-1ADD-30BA-E61204D96475}"/>
              </a:ext>
            </a:extLst>
          </p:cNvPr>
          <p:cNvSpPr txBox="1"/>
          <p:nvPr/>
        </p:nvSpPr>
        <p:spPr>
          <a:xfrm>
            <a:off x="838201" y="5903495"/>
            <a:ext cx="57245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➡️ </a:t>
            </a:r>
            <a:r>
              <a:rPr lang="en-IN" sz="2800" dirty="0"/>
              <a:t>TabNet = Best overall model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410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E0AF87-49C7-B72F-F35A-E4006989276F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</a:t>
            </a:r>
            <a:r>
              <a:rPr lang="en-IN" b="1" dirty="0"/>
              <a:t>HAP Explainability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25710B-A03C-BDB3-9A79-51EC03736B5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8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SHAP applied to TabNet, MLP, CNN+BiLSTM.</a:t>
            </a:r>
          </a:p>
          <a:p>
            <a:r>
              <a:rPr lang="en-IN" dirty="0"/>
              <a:t>Key predictive features:</a:t>
            </a:r>
          </a:p>
          <a:p>
            <a:pPr marL="0" indent="0">
              <a:buNone/>
            </a:pPr>
            <a:r>
              <a:rPr lang="en-IN" dirty="0"/>
              <a:t>                           1. Age</a:t>
            </a:r>
          </a:p>
          <a:p>
            <a:pPr marL="0" indent="0">
              <a:buNone/>
            </a:pPr>
            <a:r>
              <a:rPr lang="en-IN" dirty="0"/>
              <a:t>                           2. </a:t>
            </a:r>
            <a:r>
              <a:rPr lang="it-IT" dirty="0"/>
              <a:t>Blood Pressure (ap_hi, ap_lo)</a:t>
            </a:r>
          </a:p>
          <a:p>
            <a:pPr marL="0" indent="0">
              <a:buNone/>
            </a:pPr>
            <a:r>
              <a:rPr lang="it-IT" dirty="0"/>
              <a:t>                           3. </a:t>
            </a:r>
            <a:r>
              <a:rPr lang="en-IN" dirty="0"/>
              <a:t>Cholesterol, Glucose</a:t>
            </a:r>
          </a:p>
          <a:p>
            <a:r>
              <a:rPr lang="en-US" dirty="0"/>
              <a:t>Matches known </a:t>
            </a:r>
            <a:r>
              <a:rPr lang="en-US" b="1" dirty="0"/>
              <a:t>clinical risk factors</a:t>
            </a:r>
            <a:r>
              <a:rPr lang="en-US" dirty="0"/>
              <a:t> → boosts </a:t>
            </a:r>
            <a:r>
              <a:rPr lang="en-US" b="1" dirty="0"/>
              <a:t>trust &amp; interpretability</a:t>
            </a:r>
            <a:r>
              <a:rPr lang="en-US" dirty="0"/>
              <a:t>.</a:t>
            </a:r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B61699-0E48-60E0-6E25-647A53C5A0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5225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810931-0B2B-8DED-2E33-0BC7B0C41AC7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02723-2BC3-65D6-A628-BCAB2C951C2A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8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TabNet achieved </a:t>
            </a:r>
            <a:r>
              <a:rPr lang="en-US" b="1" dirty="0"/>
              <a:t>96.19% accuracy</a:t>
            </a:r>
            <a:r>
              <a:rPr lang="en-US" dirty="0"/>
              <a:t> with strong generalization.</a:t>
            </a:r>
          </a:p>
          <a:p>
            <a:r>
              <a:rPr lang="en-US" dirty="0"/>
              <a:t>Hybrid resampling improved class balance &amp; fairness.</a:t>
            </a:r>
          </a:p>
          <a:p>
            <a:r>
              <a:rPr lang="en-US" dirty="0"/>
              <a:t>SHAP explainability aligned with </a:t>
            </a:r>
            <a:r>
              <a:rPr lang="en-US" b="1" dirty="0"/>
              <a:t>medical knowledge</a:t>
            </a:r>
            <a:r>
              <a:rPr lang="en-US" dirty="0"/>
              <a:t>.</a:t>
            </a:r>
          </a:p>
          <a:p>
            <a:r>
              <a:rPr lang="en-IN" dirty="0"/>
              <a:t>Framework is </a:t>
            </a:r>
            <a:r>
              <a:rPr lang="en-IN" b="1" dirty="0"/>
              <a:t>accurate + interpretable → clinical applicability</a:t>
            </a:r>
            <a:r>
              <a:rPr lang="en-IN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3A2679-61DA-3065-2ADC-2F462AEC4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489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7289748-72CF-4B7F-3B0D-B6B32FF4FAD1}"/>
              </a:ext>
            </a:extLst>
          </p:cNvPr>
          <p:cNvSpPr txBox="1">
            <a:spLocks/>
          </p:cNvSpPr>
          <p:nvPr/>
        </p:nvSpPr>
        <p:spPr>
          <a:xfrm>
            <a:off x="838200" y="737937"/>
            <a:ext cx="10515600" cy="952751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Future Work</a:t>
            </a:r>
            <a:endParaRPr lang="en-IN" b="1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58448CC9-3B00-287D-002D-C2A6A797676C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12813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Ensemble multiple models to combine strengths.</a:t>
            </a:r>
          </a:p>
          <a:p>
            <a:r>
              <a:rPr lang="en-US" dirty="0"/>
              <a:t>Use continuous </a:t>
            </a:r>
            <a:r>
              <a:rPr lang="en-US" b="1" dirty="0"/>
              <a:t>EHR time-series data</a:t>
            </a:r>
            <a:r>
              <a:rPr lang="en-US" dirty="0"/>
              <a:t>.</a:t>
            </a:r>
          </a:p>
          <a:p>
            <a:r>
              <a:rPr lang="en-US" dirty="0"/>
              <a:t>Deploy into </a:t>
            </a:r>
            <a:r>
              <a:rPr lang="en-US" b="1" dirty="0"/>
              <a:t>clinical dashboards / edge devices</a:t>
            </a:r>
            <a:r>
              <a:rPr lang="en-US" dirty="0"/>
              <a:t>.</a:t>
            </a:r>
          </a:p>
          <a:p>
            <a:r>
              <a:rPr lang="en-US" dirty="0"/>
              <a:t>Work with clinicians for real-world adoption.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757DDC1-2EED-00D2-417B-1390700705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058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EA7C-B60C-7F07-1244-D3C7F7845A95}"/>
              </a:ext>
            </a:extLst>
          </p:cNvPr>
          <p:cNvSpPr txBox="1">
            <a:spLocks/>
          </p:cNvSpPr>
          <p:nvPr/>
        </p:nvSpPr>
        <p:spPr>
          <a:xfrm>
            <a:off x="838200" y="619761"/>
            <a:ext cx="10515600" cy="107092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References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1A468D-44A0-BC8B-F4A4-BF6C07CC32DB}"/>
              </a:ext>
            </a:extLst>
          </p:cNvPr>
          <p:cNvSpPr txBox="1">
            <a:spLocks/>
          </p:cNvSpPr>
          <p:nvPr/>
        </p:nvSpPr>
        <p:spPr>
          <a:xfrm>
            <a:off x="838200" y="1330961"/>
            <a:ext cx="10515600" cy="4622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dirty="0"/>
              <a:t>[1] El-</a:t>
            </a:r>
            <a:r>
              <a:rPr lang="en-IN" sz="2400" dirty="0" err="1"/>
              <a:t>Sofany</a:t>
            </a:r>
            <a:r>
              <a:rPr lang="en-IN" sz="2400" dirty="0"/>
              <a:t>, H. F. (2024). Predicting heart diseases using machine learning and different data classification techniques. IEEE Access.</a:t>
            </a:r>
          </a:p>
          <a:p>
            <a:r>
              <a:rPr lang="en-IN" sz="2400" dirty="0"/>
              <a:t> [2] </a:t>
            </a:r>
            <a:r>
              <a:rPr lang="en-IN" sz="2400" dirty="0" err="1"/>
              <a:t>Cenitta</a:t>
            </a:r>
            <a:r>
              <a:rPr lang="en-IN" sz="2400" dirty="0"/>
              <a:t>, D., Arjunan, R. V., Paramasivam, G., Arul, N., Palkar, A., &amp; </a:t>
            </a:r>
            <a:r>
              <a:rPr lang="en-IN" sz="2400" dirty="0" err="1"/>
              <a:t>Chadaga</a:t>
            </a:r>
            <a:r>
              <a:rPr lang="en-IN" sz="2400" dirty="0"/>
              <a:t>, K. (2024). Ischemic Heart Disease Prognosis: A Hybrid Residual Attention-Enhanced LSTM Model. IEEE Access. </a:t>
            </a:r>
          </a:p>
          <a:p>
            <a:r>
              <a:rPr lang="en-IN" sz="2400" dirty="0"/>
              <a:t>[3] Sianga, B. E., </a:t>
            </a:r>
            <a:r>
              <a:rPr lang="en-IN" sz="2400" dirty="0" err="1"/>
              <a:t>Mbago</a:t>
            </a:r>
            <a:r>
              <a:rPr lang="en-IN" sz="2400" dirty="0"/>
              <a:t>, M. C., &amp; </a:t>
            </a:r>
            <a:r>
              <a:rPr lang="en-IN" sz="2400" dirty="0" err="1"/>
              <a:t>Msengwa</a:t>
            </a:r>
            <a:r>
              <a:rPr lang="en-IN" sz="2400" dirty="0"/>
              <a:t>, A. S. (2025). Predicting the prevalence of cardiovascular diseases using machine learning algorithms. Intelligence-Based Medicine, 11, 100199.</a:t>
            </a:r>
          </a:p>
          <a:p>
            <a:r>
              <a:rPr lang="en-IN" sz="2400" dirty="0"/>
              <a:t> [4] Pal, P., Singh, H. V., Grover, V., Manikandan, R., Karimi, R., &amp; </a:t>
            </a:r>
            <a:r>
              <a:rPr lang="en-IN" sz="2400" dirty="0" err="1"/>
              <a:t>Khishe</a:t>
            </a:r>
            <a:r>
              <a:rPr lang="en-IN" sz="2400" dirty="0"/>
              <a:t>, M. (2025).</a:t>
            </a:r>
          </a:p>
          <a:p>
            <a:r>
              <a:rPr lang="en-US" sz="2400" dirty="0"/>
              <a:t> [5] </a:t>
            </a:r>
            <a:r>
              <a:rPr lang="en-US" sz="2400" dirty="0" err="1"/>
              <a:t>Trigka</a:t>
            </a:r>
            <a:r>
              <a:rPr lang="en-US" sz="2400" dirty="0"/>
              <a:t>, M., &amp; Dritsas, E. (2025). Improving Cardiovascular Disease Prediction With Deep Learning and Correlation-Aware SMOTE. IEEE Access.</a:t>
            </a:r>
            <a:r>
              <a:rPr lang="en-IN" sz="2400" dirty="0"/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A8F351-B116-12C0-5D35-51DC8FFECE1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8910" y="6081184"/>
            <a:ext cx="2183090" cy="7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91562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AC211-6317-59DC-2158-875497E160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16000"/>
            <a:ext cx="10515600" cy="4206240"/>
          </a:xfrm>
        </p:spPr>
        <p:txBody>
          <a:bodyPr>
            <a:normAutofit/>
          </a:bodyPr>
          <a:lstStyle/>
          <a:p>
            <a:r>
              <a:rPr lang="en-US" sz="6000" b="1" dirty="0"/>
              <a:t>                     Thank You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14229205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739</Words>
  <Application>Microsoft Office PowerPoint</Application>
  <PresentationFormat>Widescreen</PresentationFormat>
  <Paragraphs>105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  2025 2nd Asia Pacific Conference on Innovation in Technology (APCIT)</vt:lpstr>
      <vt:lpstr>Contents </vt:lpstr>
      <vt:lpstr>Introduction</vt:lpstr>
      <vt:lpstr>Research Gaps &amp; Our Solutions</vt:lpstr>
      <vt:lpstr>Dataset &amp;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                    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t.adilakshmi@outlook.com</cp:lastModifiedBy>
  <cp:revision>18</cp:revision>
  <dcterms:created xsi:type="dcterms:W3CDTF">2021-06-10T05:32:34Z</dcterms:created>
  <dcterms:modified xsi:type="dcterms:W3CDTF">2025-09-19T11:52:44Z</dcterms:modified>
</cp:coreProperties>
</file>