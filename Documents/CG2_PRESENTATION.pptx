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8" r:id="rId2"/>
    <p:sldId id="259" r:id="rId3"/>
    <p:sldId id="260" r:id="rId4"/>
    <p:sldId id="261" r:id="rId5"/>
    <p:sldId id="262" r:id="rId6"/>
    <p:sldId id="283" r:id="rId7"/>
    <p:sldId id="282" r:id="rId8"/>
    <p:sldId id="265" r:id="rId9"/>
    <p:sldId id="266" r:id="rId10"/>
    <p:sldId id="267" r:id="rId11"/>
    <p:sldId id="268" r:id="rId12"/>
    <p:sldId id="269" r:id="rId13"/>
    <p:sldId id="272" r:id="rId14"/>
    <p:sldId id="273" r:id="rId15"/>
    <p:sldId id="284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80D152-5116-4477-B784-4471F9DE729F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238B9E-7321-4CBF-88F3-8A86102C03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327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38035-145A-4A0C-86F0-D285E37A42D0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1     Batch No.     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907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DA768-724D-4A42-AAE7-4DDECD59825D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1     Batch No.     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663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1AB55-1BF4-4334-A3A7-A47004C7131F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1     Batch No.     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343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A1F35-C0CF-48F1-B9A5-08714AA4C03A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1     Batch No. 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128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82CC-33A8-4B44-A52E-AF2F550DAE9D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1     Batch No.         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145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4F96C-05F8-425D-AC3C-8860C2E0854B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1     Batch No.         Department of CSE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093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16FE-A55E-4754-BFBC-303C94FAE3B3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1     Batch No.         Department of CSE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719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C7AE8-1ABC-4FB5-B8B6-D8996BE89E2D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1     Batch No. 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023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66C21-BDE5-400C-AFB4-57BF5F709868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1     Batch No. 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4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C1D91-F38A-4012-8553-ABD611013E02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1     Batch No.     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195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F18A7-D4A3-4906-8822-4CFF9BBC1522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1     Batch No.     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780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7136F-636C-44FA-88B4-5A5CF3FA0662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Review No. 1     Batch No.     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EC67FC-8107-4C00-9415-4D1567E899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251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mailto:aadhi0509@gmail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sattenapallisada@gmail.com" TargetMode="External"/><Relationship Id="rId4" Type="http://schemas.openxmlformats.org/officeDocument/2006/relationships/hyperlink" Target="mailto:harinisunkara2005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46493"/>
            <a:ext cx="10515600" cy="732327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254" y="1509102"/>
            <a:ext cx="10515600" cy="477739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Title :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Resampling-Driven Deep Learning Architecture for Cardiovascular Risk Stratification</a:t>
            </a:r>
            <a:endParaRPr lang="en-US" sz="2200" b="1" dirty="0">
              <a:solidFill>
                <a:srgbClr val="FF0000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PRESENTED BY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                                         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Thogati Adi Lakshmi                           (22471A05E2)                                     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                                               Sunkara Harini                                     (22471A05J8)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Sattenapalli Sadarani                            (22471A05I7)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</a:t>
            </a:r>
            <a:r>
              <a:rPr lang="en-US"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of,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D. Venkata Reddy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M.Tech.,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Associate Professor,</a:t>
            </a:r>
          </a:p>
          <a:p>
            <a:pPr marL="0" indent="0">
              <a:buNone/>
            </a:pPr>
            <a:r>
              <a:rPr lang="en-US" sz="1800" dirty="0"/>
              <a:t>                                                   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Narasaraopeta Engineering College (Autonomous),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Narasaraopet- 522 601.</a:t>
            </a:r>
          </a:p>
          <a:p>
            <a:pPr marL="0" indent="0">
              <a:buNone/>
            </a:pP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800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4677428" cy="671805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05/12/2025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2     Batch No. CG2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018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6010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and Answers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352"/>
            <a:ext cx="4677428" cy="713817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05/12/2025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2     Batch No. CG2 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939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6010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Cardiovascular diseases (CVD) are a leading cause of global mortality, accounting for nearly 18 million deaths annually.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proposes a deep learning-based predictive framework integrating hybrid resampling to address class imbalance in CVD datasets.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five architectures — TabNet, CNN–BiLSTM, MLP, Attention-LSTM, and 1D CNN — under a unified pipeline.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Among all models, TabNet achieved the highest accuracy (96.19%), followed closely by MLP and CNN–BiLSTM.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SHAP explainability for model transparency and medical interpretability.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framework demonstrates potential for inclusion in clinical decision support systems to assist early CVD diagnosis and prevention.</a:t>
            </a:r>
          </a:p>
          <a:p>
            <a:pPr algn="just"/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352"/>
            <a:ext cx="4677428" cy="743054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05/12/2025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2     Batch No. CG2 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7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6009"/>
            <a:ext cx="10515600" cy="4590247"/>
          </a:xfrm>
        </p:spPr>
        <p:txBody>
          <a:bodyPr>
            <a:no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Cardiovascular diseases (CVDs) are the leading global cause of death, claiming over 18 million lives annually.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risk prediction tools fail to capture the complex nonlinear relationships in clinical data.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and deep learning offer data-driven, personalized methods for early CVD detection.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Classical models like Logistic Regression, Decision Trees, and Random Forests show promise but lack explainability and adaptability.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architectures like CNN, LSTM, and TabNet effectively model spatial and temporal medical features.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study develops a SHAP-guided deep learning framework with hybrid resampling for accurate and interpretable cardiovascular risk prediction.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0937"/>
            <a:ext cx="4677428" cy="743054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05/12/2025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2     Batch No. CG2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460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523" y="535893"/>
            <a:ext cx="10515600" cy="878925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0340219"/>
              </p:ext>
            </p:extLst>
          </p:nvPr>
        </p:nvGraphicFramePr>
        <p:xfrm>
          <a:off x="1012371" y="1278946"/>
          <a:ext cx="10210800" cy="51206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61623">
                  <a:extLst>
                    <a:ext uri="{9D8B030D-6E8A-4147-A177-3AD203B41FA5}">
                      <a16:colId xmlns:a16="http://schemas.microsoft.com/office/drawing/2014/main" val="2070713702"/>
                    </a:ext>
                  </a:extLst>
                </a:gridCol>
                <a:gridCol w="2247317">
                  <a:extLst>
                    <a:ext uri="{9D8B030D-6E8A-4147-A177-3AD203B41FA5}">
                      <a16:colId xmlns:a16="http://schemas.microsoft.com/office/drawing/2014/main" val="264225470"/>
                    </a:ext>
                  </a:extLst>
                </a:gridCol>
                <a:gridCol w="1512413">
                  <a:extLst>
                    <a:ext uri="{9D8B030D-6E8A-4147-A177-3AD203B41FA5}">
                      <a16:colId xmlns:a16="http://schemas.microsoft.com/office/drawing/2014/main" val="3072976218"/>
                    </a:ext>
                  </a:extLst>
                </a:gridCol>
                <a:gridCol w="1480460">
                  <a:extLst>
                    <a:ext uri="{9D8B030D-6E8A-4147-A177-3AD203B41FA5}">
                      <a16:colId xmlns:a16="http://schemas.microsoft.com/office/drawing/2014/main" val="1539970045"/>
                    </a:ext>
                  </a:extLst>
                </a:gridCol>
                <a:gridCol w="1513087">
                  <a:extLst>
                    <a:ext uri="{9D8B030D-6E8A-4147-A177-3AD203B41FA5}">
                      <a16:colId xmlns:a16="http://schemas.microsoft.com/office/drawing/2014/main" val="2133008543"/>
                    </a:ext>
                  </a:extLst>
                </a:gridCol>
                <a:gridCol w="1511739">
                  <a:extLst>
                    <a:ext uri="{9D8B030D-6E8A-4147-A177-3AD203B41FA5}">
                      <a16:colId xmlns:a16="http://schemas.microsoft.com/office/drawing/2014/main" val="167091109"/>
                    </a:ext>
                  </a:extLst>
                </a:gridCol>
                <a:gridCol w="1484161">
                  <a:extLst>
                    <a:ext uri="{9D8B030D-6E8A-4147-A177-3AD203B41FA5}">
                      <a16:colId xmlns:a16="http://schemas.microsoft.com/office/drawing/2014/main" val="1117400812"/>
                    </a:ext>
                  </a:extLst>
                </a:gridCol>
              </a:tblGrid>
              <a:tr h="548479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Title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Author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Journal Name &amp;  Year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Methodology Adopted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Key Findings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Gaps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4691251"/>
                  </a:ext>
                </a:extLst>
              </a:tr>
              <a:tr h="1501101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1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Predicting Heart Diseases Using Machine Learning and Different Data Classification Techniques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400" dirty="0"/>
                        <a:t>El-Sofany H. F. et al.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IEEE Access, 2024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Used </a:t>
                      </a:r>
                      <a:r>
                        <a:rPr lang="en-US" sz="1400" b="0" dirty="0"/>
                        <a:t>ensemble ML models </a:t>
                      </a:r>
                      <a:r>
                        <a:rPr lang="en-US" sz="1400" dirty="0"/>
                        <a:t>(XGBoost, AdaBoost, SVM) with </a:t>
                      </a:r>
                      <a:r>
                        <a:rPr lang="en-US" sz="1400" b="0" dirty="0"/>
                        <a:t>ANOVA and chi-square </a:t>
                      </a:r>
                      <a:r>
                        <a:rPr lang="en-US" sz="1400" dirty="0"/>
                        <a:t>feature selection.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Achieved </a:t>
                      </a:r>
                      <a:r>
                        <a:rPr lang="en-US" sz="1400" b="0" dirty="0"/>
                        <a:t>97.57% accuracy</a:t>
                      </a:r>
                      <a:r>
                        <a:rPr lang="en-US" sz="1400" dirty="0"/>
                        <a:t> and </a:t>
                      </a:r>
                      <a:r>
                        <a:rPr lang="en-US" sz="1400" b="0" dirty="0"/>
                        <a:t>AUC 0.98</a:t>
                      </a:r>
                      <a:r>
                        <a:rPr lang="en-US" sz="1400" dirty="0"/>
                        <a:t> on private dataset.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Dataset not publicly available; lacks </a:t>
                      </a:r>
                      <a:r>
                        <a:rPr lang="en-US" sz="1400" b="0" dirty="0"/>
                        <a:t>explainability</a:t>
                      </a:r>
                      <a:r>
                        <a:rPr lang="en-US" sz="1400" dirty="0"/>
                        <a:t> and reproducibility.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7050482"/>
                  </a:ext>
                </a:extLst>
              </a:tr>
              <a:tr h="1501101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2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Ischemic Heart Disease Prognosis: Hybrid Residual Attention-Enhanced LSTM (HRAE-LSTM)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Cenitta D. et al.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IEEE Access, 2024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Proposed </a:t>
                      </a:r>
                      <a:r>
                        <a:rPr lang="en-US" sz="1400" b="0" dirty="0"/>
                        <a:t>attention-based LSTM with residual layers </a:t>
                      </a:r>
                      <a:r>
                        <a:rPr lang="en-US" sz="1400" dirty="0"/>
                        <a:t>for ischemic heart disease prediction.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Reported </a:t>
                      </a:r>
                      <a:r>
                        <a:rPr lang="en-US" sz="1400" b="0" dirty="0"/>
                        <a:t>97.7% accuracy</a:t>
                      </a:r>
                      <a:r>
                        <a:rPr lang="en-US" sz="1400" dirty="0"/>
                        <a:t> on UCI dataset; strong temporal learning.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Evaluated only on ischemic subset; limited </a:t>
                      </a:r>
                      <a:r>
                        <a:rPr lang="en-US" sz="1400" b="0" dirty="0"/>
                        <a:t>generalization </a:t>
                      </a:r>
                      <a:r>
                        <a:rPr lang="en-US" sz="1400" dirty="0"/>
                        <a:t>across broader CVDs.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6378429"/>
                  </a:ext>
                </a:extLst>
              </a:tr>
              <a:tr h="129903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3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Predicting the Prevalence of Cardiovascular Diseases Using ML Algorithms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400" dirty="0"/>
                        <a:t>Sianga B. E. et al.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Intelligence-Based Medicine, 2025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Applied </a:t>
                      </a:r>
                      <a:r>
                        <a:rPr lang="en-US" sz="1400" b="0" dirty="0"/>
                        <a:t>SMOTE </a:t>
                      </a:r>
                      <a:r>
                        <a:rPr lang="en-US" sz="1400" dirty="0"/>
                        <a:t>for imbalance handling with </a:t>
                      </a:r>
                      <a:r>
                        <a:rPr lang="en-US" sz="1400" b="0" dirty="0"/>
                        <a:t>XGBoost, SVM </a:t>
                      </a:r>
                      <a:r>
                        <a:rPr lang="en-US" sz="1400" dirty="0"/>
                        <a:t>classifiers.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Achieved </a:t>
                      </a:r>
                      <a:r>
                        <a:rPr lang="en-US" sz="1400" b="0" dirty="0"/>
                        <a:t>95.24% accuracy </a:t>
                      </a:r>
                      <a:r>
                        <a:rPr lang="en-US" sz="1400" dirty="0"/>
                        <a:t>combining clinical and environmental variables.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Dataset limited to specific regions; deep learning and explainability </a:t>
                      </a:r>
                      <a:r>
                        <a:rPr lang="en-US" sz="1400" b="0" dirty="0"/>
                        <a:t>not applied.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667372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945"/>
            <a:ext cx="4677428" cy="74305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05/12/2025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2     Batch No.  CG2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111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9080A-F4B3-BABB-ED6B-80A0095A2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B3F98-90C8-EF00-C61F-07F9D5B58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523" y="535893"/>
            <a:ext cx="10515600" cy="878925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EDB4612-4C4A-19DD-3686-FF5E4E3110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8581554"/>
              </p:ext>
            </p:extLst>
          </p:nvPr>
        </p:nvGraphicFramePr>
        <p:xfrm>
          <a:off x="875523" y="1414818"/>
          <a:ext cx="10440954" cy="48489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92020">
                  <a:extLst>
                    <a:ext uri="{9D8B030D-6E8A-4147-A177-3AD203B41FA5}">
                      <a16:colId xmlns:a16="http://schemas.microsoft.com/office/drawing/2014/main" val="2070713702"/>
                    </a:ext>
                  </a:extLst>
                </a:gridCol>
                <a:gridCol w="2291109">
                  <a:extLst>
                    <a:ext uri="{9D8B030D-6E8A-4147-A177-3AD203B41FA5}">
                      <a16:colId xmlns:a16="http://schemas.microsoft.com/office/drawing/2014/main" val="264225470"/>
                    </a:ext>
                  </a:extLst>
                </a:gridCol>
                <a:gridCol w="1491565">
                  <a:extLst>
                    <a:ext uri="{9D8B030D-6E8A-4147-A177-3AD203B41FA5}">
                      <a16:colId xmlns:a16="http://schemas.microsoft.com/office/drawing/2014/main" val="3072976218"/>
                    </a:ext>
                  </a:extLst>
                </a:gridCol>
                <a:gridCol w="1491565">
                  <a:extLst>
                    <a:ext uri="{9D8B030D-6E8A-4147-A177-3AD203B41FA5}">
                      <a16:colId xmlns:a16="http://schemas.microsoft.com/office/drawing/2014/main" val="1539970045"/>
                    </a:ext>
                  </a:extLst>
                </a:gridCol>
                <a:gridCol w="1491565">
                  <a:extLst>
                    <a:ext uri="{9D8B030D-6E8A-4147-A177-3AD203B41FA5}">
                      <a16:colId xmlns:a16="http://schemas.microsoft.com/office/drawing/2014/main" val="2133008543"/>
                    </a:ext>
                  </a:extLst>
                </a:gridCol>
                <a:gridCol w="1503662">
                  <a:extLst>
                    <a:ext uri="{9D8B030D-6E8A-4147-A177-3AD203B41FA5}">
                      <a16:colId xmlns:a16="http://schemas.microsoft.com/office/drawing/2014/main" val="167091109"/>
                    </a:ext>
                  </a:extLst>
                </a:gridCol>
                <a:gridCol w="1479468">
                  <a:extLst>
                    <a:ext uri="{9D8B030D-6E8A-4147-A177-3AD203B41FA5}">
                      <a16:colId xmlns:a16="http://schemas.microsoft.com/office/drawing/2014/main" val="1117400812"/>
                    </a:ext>
                  </a:extLst>
                </a:gridCol>
              </a:tblGrid>
              <a:tr h="53462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Title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Author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Journal Name &amp;  Year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Methodology Adopted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Key Findings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Gaps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4691251"/>
                  </a:ext>
                </a:extLst>
              </a:tr>
              <a:tr h="1266207"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Interactive Cardiovascular Disease Prediction System Using Learning Techniques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Pal P. et al.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Results in Control and Optimization, 2025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Compared </a:t>
                      </a:r>
                      <a:r>
                        <a:rPr lang="en-US" sz="1400" b="0" dirty="0"/>
                        <a:t>InceptionNet, RF, KNN, and Logistic Regression </a:t>
                      </a:r>
                      <a:r>
                        <a:rPr lang="en-US" sz="1400" dirty="0"/>
                        <a:t>on 14-feature dataset.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InceptionNet achieved 98.89% accuracy; </a:t>
                      </a:r>
                      <a:r>
                        <a:rPr lang="en-US" sz="1400" dirty="0"/>
                        <a:t>effective for small datasets.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Lacked explainability and </a:t>
                      </a:r>
                      <a:r>
                        <a:rPr lang="en-US" sz="1400" b="0" dirty="0"/>
                        <a:t>cross-dataset validation</a:t>
                      </a:r>
                      <a:r>
                        <a:rPr lang="en-US" sz="1400" dirty="0"/>
                        <a:t>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6662257"/>
                  </a:ext>
                </a:extLst>
              </a:tr>
              <a:tr h="1463172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The Impact of Feature Selection Models on the Accuracy of Tree-Based Classification Algorithms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Efe Y., Demir L.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Procedia Computer Science, 2025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Feature selection using </a:t>
                      </a:r>
                      <a:r>
                        <a:rPr lang="en-US" sz="1400" dirty="0" err="1"/>
                        <a:t>ReliefF</a:t>
                      </a:r>
                      <a:r>
                        <a:rPr lang="en-US" sz="1400" dirty="0"/>
                        <a:t>, Boruta; applied Weka preprocessing on </a:t>
                      </a:r>
                      <a:r>
                        <a:rPr lang="en-US" sz="1400" dirty="0" err="1"/>
                        <a:t>Statlog</a:t>
                      </a:r>
                      <a:r>
                        <a:rPr lang="en-US" sz="1400" dirty="0"/>
                        <a:t> Heart dataset.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ReliefF</a:t>
                      </a:r>
                      <a:r>
                        <a:rPr lang="en-US" sz="1400" dirty="0"/>
                        <a:t> &amp; Boruta improved accuracy of tree-based models.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Focused only on ML tree models; no deep learning or hybrid methods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392490"/>
                  </a:ext>
                </a:extLst>
              </a:tr>
              <a:tr h="1463172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Analysis of Machine Learning Techniques for Prediction of Cardiac Diseases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Gupta et al., 2025, Elsevier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Procedia Computer Science, 2025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Standard scaling and data cleaning; tested LR, RF, DT, KNN, SVM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KNN achieved </a:t>
                      </a:r>
                      <a:r>
                        <a:rPr lang="en-IN" sz="1400" b="0" dirty="0"/>
                        <a:t>90.16% accuracy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 DL or ensemble techniques included; limited model diversity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45856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66DD30E5-B1FD-B7A4-1CA6-F2CE988E46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945"/>
            <a:ext cx="4677428" cy="743054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83CCDC-FE95-FAC0-74B7-B20A0171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05/12/2025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8A4F80-3910-5B25-0158-F3B5250FA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2     Batch No. CG2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1CE9DC-BC71-2247-A724-690BA1151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469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3E146-B0A7-5204-01ED-DED27AF43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7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BE69F68-E21F-283A-9DCC-FFBD1EF81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523" y="548838"/>
            <a:ext cx="10515600" cy="878925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14" name="Content Placeholder 4">
            <a:extLst>
              <a:ext uri="{FF2B5EF4-FFF2-40B4-BE49-F238E27FC236}">
                <a16:creationId xmlns:a16="http://schemas.microsoft.com/office/drawing/2014/main" id="{E0A42C3D-9AB8-9469-A11C-27915825BF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9647295"/>
              </p:ext>
            </p:extLst>
          </p:nvPr>
        </p:nvGraphicFramePr>
        <p:xfrm>
          <a:off x="875523" y="1427763"/>
          <a:ext cx="10440954" cy="49377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80561">
                  <a:extLst>
                    <a:ext uri="{9D8B030D-6E8A-4147-A177-3AD203B41FA5}">
                      <a16:colId xmlns:a16="http://schemas.microsoft.com/office/drawing/2014/main" val="2070713702"/>
                    </a:ext>
                  </a:extLst>
                </a:gridCol>
                <a:gridCol w="2302568">
                  <a:extLst>
                    <a:ext uri="{9D8B030D-6E8A-4147-A177-3AD203B41FA5}">
                      <a16:colId xmlns:a16="http://schemas.microsoft.com/office/drawing/2014/main" val="264225470"/>
                    </a:ext>
                  </a:extLst>
                </a:gridCol>
                <a:gridCol w="1491565">
                  <a:extLst>
                    <a:ext uri="{9D8B030D-6E8A-4147-A177-3AD203B41FA5}">
                      <a16:colId xmlns:a16="http://schemas.microsoft.com/office/drawing/2014/main" val="3072976218"/>
                    </a:ext>
                  </a:extLst>
                </a:gridCol>
                <a:gridCol w="1491565">
                  <a:extLst>
                    <a:ext uri="{9D8B030D-6E8A-4147-A177-3AD203B41FA5}">
                      <a16:colId xmlns:a16="http://schemas.microsoft.com/office/drawing/2014/main" val="1539970045"/>
                    </a:ext>
                  </a:extLst>
                </a:gridCol>
                <a:gridCol w="1491565">
                  <a:extLst>
                    <a:ext uri="{9D8B030D-6E8A-4147-A177-3AD203B41FA5}">
                      <a16:colId xmlns:a16="http://schemas.microsoft.com/office/drawing/2014/main" val="2133008543"/>
                    </a:ext>
                  </a:extLst>
                </a:gridCol>
                <a:gridCol w="1503662">
                  <a:extLst>
                    <a:ext uri="{9D8B030D-6E8A-4147-A177-3AD203B41FA5}">
                      <a16:colId xmlns:a16="http://schemas.microsoft.com/office/drawing/2014/main" val="167091109"/>
                    </a:ext>
                  </a:extLst>
                </a:gridCol>
                <a:gridCol w="1479468">
                  <a:extLst>
                    <a:ext uri="{9D8B030D-6E8A-4147-A177-3AD203B41FA5}">
                      <a16:colId xmlns:a16="http://schemas.microsoft.com/office/drawing/2014/main" val="1117400812"/>
                    </a:ext>
                  </a:extLst>
                </a:gridCol>
              </a:tblGrid>
              <a:tr h="480164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Title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Author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Journal Name &amp;  Year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Methodology Adopted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Key Findings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Gaps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4691251"/>
                  </a:ext>
                </a:extLst>
              </a:tr>
              <a:tr h="1073308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Machine Learning Methods for Predicting Cardiovascular Diseases Analyzing a Hybrid Dataset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Selvitopi</a:t>
                      </a:r>
                      <a:r>
                        <a:rPr lang="en-IN" sz="1400" dirty="0"/>
                        <a:t> Z., </a:t>
                      </a:r>
                      <a:r>
                        <a:rPr lang="en-IN" sz="1400" dirty="0" err="1"/>
                        <a:t>Selvitopi</a:t>
                      </a:r>
                      <a:r>
                        <a:rPr lang="en-IN" sz="1400" dirty="0"/>
                        <a:t> H.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Procedia Computer Science, 2025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Clean dataset without missing values; used NB, LR, KNN, RFC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Naive Bayes achieved 85.63% accuracy, 84.29% AUC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Dataset small and basic; no DL or advanced ensemble approaches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6662257"/>
                  </a:ext>
                </a:extLst>
              </a:tr>
              <a:tr h="1073308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Comparison of Machine Learning Algorithms for Heart Disease Prediction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Daharwal</a:t>
                      </a:r>
                      <a:r>
                        <a:rPr lang="en-IN" sz="1400" dirty="0"/>
                        <a:t> U. et al.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Procedia Computer Science, 2025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Basic scaling and feature selection; compared RF and KNN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RF and KNN performed effectively for CVD prediction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 DL, hybrid, or ensemble models included; lacks modern techniques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392490"/>
                  </a:ext>
                </a:extLst>
              </a:tr>
              <a:tr h="85179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Feature Selection and Model Evaluation for Heart Disease Prediction Using Ensemble Methods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Sreekumari</a:t>
                      </a:r>
                      <a:r>
                        <a:rPr lang="en-IN" sz="1400" dirty="0"/>
                        <a:t> S. et al.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Procedia Computer Science, 2025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Feature selection (χ², correlation, IG); ensemble of KNN–DT–NB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Ensemble reached </a:t>
                      </a:r>
                      <a:r>
                        <a:rPr lang="en-IN" sz="1400" b="0" dirty="0"/>
                        <a:t>78.42</a:t>
                      </a:r>
                      <a:r>
                        <a:rPr lang="en-IN" sz="1400" b="1" dirty="0"/>
                        <a:t>% </a:t>
                      </a:r>
                      <a:r>
                        <a:rPr lang="en-IN" sz="1400" b="0" dirty="0"/>
                        <a:t>accuracy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Lower accuracy; no DL or explainability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45856"/>
                  </a:ext>
                </a:extLst>
              </a:tr>
              <a:tr h="112549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Improving CVD Prediction With Deep Learning and Correlation-Aware SMOTE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Trigka</a:t>
                      </a:r>
                      <a:r>
                        <a:rPr lang="en-IN" sz="1400" dirty="0"/>
                        <a:t> M., Dritsas E.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IEEE Access, 2025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Correlation-Aware SMOTE + normalization; applied DL models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CNN achieved </a:t>
                      </a:r>
                      <a:r>
                        <a:rPr lang="en-IN" sz="1400" b="0" dirty="0"/>
                        <a:t>91</a:t>
                      </a:r>
                      <a:r>
                        <a:rPr lang="en-IN" sz="1400" b="1" dirty="0"/>
                        <a:t>% </a:t>
                      </a:r>
                      <a:r>
                        <a:rPr lang="en-IN" sz="1400" b="0" dirty="0"/>
                        <a:t>accuracy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No SHAP/interpretability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1498008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02818EA4-CF26-E84C-BE02-A9981729EF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677428" cy="743054"/>
          </a:xfrm>
          <a:prstGeom prst="rect">
            <a:avLst/>
          </a:prstGeom>
        </p:spPr>
      </p:pic>
      <p:sp>
        <p:nvSpPr>
          <p:cNvPr id="16" name="Date Placeholder 2">
            <a:extLst>
              <a:ext uri="{FF2B5EF4-FFF2-40B4-BE49-F238E27FC236}">
                <a16:creationId xmlns:a16="http://schemas.microsoft.com/office/drawing/2014/main" id="{33A0368E-2C65-CC71-AE8F-DC2C620F24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69295"/>
            <a:ext cx="2743200" cy="365125"/>
          </a:xfrm>
        </p:spPr>
        <p:txBody>
          <a:bodyPr/>
          <a:lstStyle/>
          <a:p>
            <a:r>
              <a:rPr lang="en-US" dirty="0"/>
              <a:t>05/12/2025</a:t>
            </a:r>
          </a:p>
        </p:txBody>
      </p:sp>
      <p:sp>
        <p:nvSpPr>
          <p:cNvPr id="17" name="Footer Placeholder 5">
            <a:extLst>
              <a:ext uri="{FF2B5EF4-FFF2-40B4-BE49-F238E27FC236}">
                <a16:creationId xmlns:a16="http://schemas.microsoft.com/office/drawing/2014/main" id="{33983040-5169-F36F-A2D0-2B5C75381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9295"/>
            <a:ext cx="4114800" cy="365125"/>
          </a:xfrm>
        </p:spPr>
        <p:txBody>
          <a:bodyPr/>
          <a:lstStyle/>
          <a:p>
            <a:r>
              <a:rPr lang="en-US" dirty="0"/>
              <a:t>Review No. 2     Batch No. CG2         Department of CSE</a:t>
            </a:r>
          </a:p>
        </p:txBody>
      </p:sp>
    </p:spTree>
    <p:extLst>
      <p:ext uri="{BB962C8B-B14F-4D97-AF65-F5344CB8AC3E}">
        <p14:creationId xmlns:p14="http://schemas.microsoft.com/office/powerpoint/2010/main" val="3579125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9065" y="714282"/>
            <a:ext cx="10515600" cy="878925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REASEARCH GAPS &amp; OUR SOLUTIONS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945"/>
            <a:ext cx="4677428" cy="743054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05/12/2025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2     Batch No. CG2 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8</a:t>
            </a:fld>
            <a:endParaRPr lang="en-US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020061C-66D8-0B45-E8FA-E6E31370A8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230800"/>
              </p:ext>
            </p:extLst>
          </p:nvPr>
        </p:nvGraphicFramePr>
        <p:xfrm>
          <a:off x="838200" y="1593207"/>
          <a:ext cx="10700422" cy="4397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8717">
                  <a:extLst>
                    <a:ext uri="{9D8B030D-6E8A-4147-A177-3AD203B41FA5}">
                      <a16:colId xmlns:a16="http://schemas.microsoft.com/office/drawing/2014/main" val="2051730917"/>
                    </a:ext>
                  </a:extLst>
                </a:gridCol>
                <a:gridCol w="5221705">
                  <a:extLst>
                    <a:ext uri="{9D8B030D-6E8A-4147-A177-3AD203B41FA5}">
                      <a16:colId xmlns:a16="http://schemas.microsoft.com/office/drawing/2014/main" val="2841853988"/>
                    </a:ext>
                  </a:extLst>
                </a:gridCol>
              </a:tblGrid>
              <a:tr h="657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Research Gaps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  <a:p>
                      <a:r>
                        <a:rPr lang="en-IN" sz="2000" dirty="0"/>
                        <a:t>Our Solutions (Implemented)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075837"/>
                  </a:ext>
                </a:extLst>
              </a:tr>
              <a:tr h="924025">
                <a:tc>
                  <a:txBody>
                    <a:bodyPr/>
                    <a:lstStyle/>
                    <a:p>
                      <a:r>
                        <a:rPr lang="en-US" sz="2000" dirty="0"/>
                        <a:t>G1: Traditional ML used → poor deep feature learning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Implemented </a:t>
                      </a:r>
                      <a:r>
                        <a:rPr lang="en-IN" sz="2000" b="1" dirty="0"/>
                        <a:t>5 deep models</a:t>
                      </a:r>
                      <a:r>
                        <a:rPr lang="en-IN" sz="2000" dirty="0"/>
                        <a:t> (TabNet, CNN+BiLSTM, MLP, Attention-LSTM, 1D CNN)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036963"/>
                  </a:ext>
                </a:extLst>
              </a:tr>
              <a:tr h="924025">
                <a:tc>
                  <a:txBody>
                    <a:bodyPr/>
                    <a:lstStyle/>
                    <a:p>
                      <a:r>
                        <a:rPr lang="en-US" sz="2000" dirty="0"/>
                        <a:t>G2: Small datasets in prior works → poor generalizability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Used </a:t>
                      </a:r>
                      <a:r>
                        <a:rPr lang="en-US" sz="2000" b="1" dirty="0"/>
                        <a:t>Sulianova CVD dataset (70K records)</a:t>
                      </a:r>
                      <a:r>
                        <a:rPr lang="en-US" sz="2000" dirty="0"/>
                        <a:t> with strict cleaning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448655"/>
                  </a:ext>
                </a:extLst>
              </a:tr>
              <a:tr h="924025">
                <a:tc>
                  <a:txBody>
                    <a:bodyPr/>
                    <a:lstStyle/>
                    <a:p>
                      <a:r>
                        <a:rPr lang="en-US" sz="2000" dirty="0"/>
                        <a:t>G3: Class imbalance ignored → biased predictions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Applied </a:t>
                      </a:r>
                      <a:r>
                        <a:rPr lang="en-US" sz="2000" b="1" dirty="0"/>
                        <a:t>Hybrid Resampling (SMOTE + ENN)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978389"/>
                  </a:ext>
                </a:extLst>
              </a:tr>
              <a:tr h="924025">
                <a:tc>
                  <a:txBody>
                    <a:bodyPr/>
                    <a:lstStyle/>
                    <a:p>
                      <a:r>
                        <a:rPr lang="en-US" sz="2000" dirty="0"/>
                        <a:t>G4: Explainability limited to single models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Applied </a:t>
                      </a:r>
                      <a:r>
                        <a:rPr lang="en-US" sz="2000" b="1" dirty="0"/>
                        <a:t>SHAP</a:t>
                      </a:r>
                      <a:r>
                        <a:rPr lang="en-US" sz="2000" dirty="0"/>
                        <a:t> on TabNet, MLP, CNN+BiLSTM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6762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415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523" y="535893"/>
            <a:ext cx="10515600" cy="878925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945"/>
            <a:ext cx="4677428" cy="74305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523" y="1414818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Cardiovascular diseases (CVDs) cause millions of deaths each year, highlighting the need for early and accurate prediction systems.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existing models focus only on accuracy and fail to provide clear explanations for their predictions.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Imbalanced medical datasets lead to biased models that perform poorly on minority (disease-positive) cases.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lack of a unified framework combining different deep learning models with effective data balancing and interpretability.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need for a reliable and explainable deep learning approach using hybrid resampling and SHAP analysis to predict CVD risk more accurately</a:t>
            </a:r>
            <a:r>
              <a:rPr lang="en-US" sz="1800" dirty="0"/>
              <a:t>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05/12/2025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2     Batch No. CG2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4860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523" y="535893"/>
            <a:ext cx="10515600" cy="878925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945"/>
            <a:ext cx="4677428" cy="74305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523" y="1414818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an accurate deep learning framework for predicting cardiovascular disease risk using clinical and lifestyle features.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a hybrid resampling method (SMOTE + random undersampling) to handle class imbalance effectively.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five deep learning models — TabNet, CNN–BiLSTM, MLP, Attention-LSTM, and 1D CNN — within a unified pipeline.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enhance model interpretability using SHAP explainability, making results more understandable for clinicians.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clinically reliable and interpretable prediction system for early cardiovascular risk assessment.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05/12/2025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2     Batch No. CG2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387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854" y="511628"/>
            <a:ext cx="10515600" cy="859971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DIAGRAM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945"/>
            <a:ext cx="4677428" cy="72207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15143" y="1447800"/>
            <a:ext cx="9666514" cy="457608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05/12/2025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2     Batch No. CG2    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04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30787"/>
          </a:xfrm>
        </p:spPr>
        <p:txBody>
          <a:bodyPr>
            <a:normAutofit/>
          </a:bodyPr>
          <a:lstStyle/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the dataset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removing unrealistic values in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ap_hi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ap_lo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height, and weight.</a:t>
            </a: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new clinical features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Age (years), BMI, and Pulse Pressure for improved representation.</a:t>
            </a: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normalize all numerical features using the saved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scaler.pkl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important features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SelectKBest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(Mutual Information) saved as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selector.pkl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class imbalance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a hybrid SMOTE + ENN resampling strategy.</a:t>
            </a:r>
          </a:p>
          <a:p>
            <a:pPr marL="0" indent="0" algn="just">
              <a:buNone/>
            </a:pP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945"/>
            <a:ext cx="4677428" cy="722072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05/12/2025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2     Batch No. CG2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921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713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945"/>
            <a:ext cx="4677428" cy="722072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05/12/2025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2     Batch No. CG2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13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F94FC84-8357-9F15-EBC0-D4934579F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0892"/>
            <a:ext cx="10515600" cy="4838020"/>
          </a:xfrm>
        </p:spPr>
        <p:txBody>
          <a:bodyPr/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frameworks: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Scikit-learn, Imbalanced-learn,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TabNet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SHAP for explainability.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five models: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TabNet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CNN–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MLP, Attention-LSTM, and 1D-CNN under a unified pipeline.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Adam optimizer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0.001–0.02), BCE loss, dropout, and batch sizes 128–1024 for stable training.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Mutual Information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feature scoring and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mathematical normalization.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SHAP plots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interpret feature contributions in each deep learning model.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73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713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945"/>
            <a:ext cx="4677428" cy="722072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05/12/2025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2     Batch No. 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14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58CF15D-23D3-374F-0C16-DC7E15E75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2601"/>
            <a:ext cx="10515600" cy="4685620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Loaded the </a:t>
            </a:r>
            <a:r>
              <a:rPr lang="en-US" sz="2400" b="1" dirty="0" err="1"/>
              <a:t>Sulianova</a:t>
            </a:r>
            <a:r>
              <a:rPr lang="en-US" sz="2400" b="1" dirty="0"/>
              <a:t> CVD dataset</a:t>
            </a:r>
            <a:r>
              <a:rPr lang="en-US" sz="2400" dirty="0"/>
              <a:t> and applied preprocessing using the saved scaler (</a:t>
            </a:r>
            <a:r>
              <a:rPr lang="en-US" dirty="0" err="1"/>
              <a:t>scaler.pkl</a:t>
            </a:r>
            <a:r>
              <a:rPr lang="en-US" sz="2400" dirty="0"/>
              <a:t>) and feature selector (</a:t>
            </a:r>
            <a:r>
              <a:rPr lang="en-US" dirty="0" err="1"/>
              <a:t>selector.pkl</a:t>
            </a:r>
            <a:r>
              <a:rPr lang="en-US" sz="2400" dirty="0"/>
              <a:t>).</a:t>
            </a:r>
          </a:p>
          <a:p>
            <a:pPr algn="just"/>
            <a:r>
              <a:rPr lang="en-US" sz="2400" dirty="0"/>
              <a:t>Balanced the training data using </a:t>
            </a:r>
            <a:r>
              <a:rPr lang="en-US" sz="2400" b="1" dirty="0"/>
              <a:t>SMOTE + ENN</a:t>
            </a:r>
            <a:r>
              <a:rPr lang="en-US" sz="2400" dirty="0"/>
              <a:t> hybrid resampling to fix imbalance and remove noisy samples.</a:t>
            </a:r>
          </a:p>
          <a:p>
            <a:pPr algn="just"/>
            <a:r>
              <a:rPr lang="en-US" sz="2400" dirty="0"/>
              <a:t>Trained all five deep learning models using a unified training pipeline with metric tracking and evaluation.</a:t>
            </a:r>
          </a:p>
          <a:p>
            <a:pPr algn="just"/>
            <a:r>
              <a:rPr lang="en-US" sz="2400" dirty="0"/>
              <a:t>Saved models in </a:t>
            </a:r>
            <a:r>
              <a:rPr lang="en-US" sz="2400" b="1" dirty="0"/>
              <a:t>.</a:t>
            </a:r>
            <a:r>
              <a:rPr lang="en-US" sz="2400" b="1" dirty="0" err="1"/>
              <a:t>pth</a:t>
            </a:r>
            <a:r>
              <a:rPr lang="en-US" sz="2400" b="1" dirty="0"/>
              <a:t> format</a:t>
            </a:r>
            <a:r>
              <a:rPr lang="en-US" sz="2400" dirty="0"/>
              <a:t> for reuse in Flask API and React web application.</a:t>
            </a:r>
          </a:p>
          <a:p>
            <a:pPr algn="just"/>
            <a:r>
              <a:rPr lang="en-US" sz="2400" dirty="0"/>
              <a:t>Generated </a:t>
            </a:r>
            <a:r>
              <a:rPr lang="en-US" sz="2400" b="1" dirty="0"/>
              <a:t>SHAP interpretability plots</a:t>
            </a:r>
            <a:r>
              <a:rPr lang="en-US" sz="2400" dirty="0"/>
              <a:t> to support clinical decision understanding.</a:t>
            </a:r>
          </a:p>
          <a:p>
            <a:pPr marL="0" indent="0" algn="just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52722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ADD75BC-B083-0A41-4C3A-F635215CA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13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2F56D66-B8B5-F916-BB53-CCE710F820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945"/>
            <a:ext cx="4677428" cy="722072"/>
          </a:xfrm>
          <a:prstGeom prst="rect">
            <a:avLst/>
          </a:prstGeom>
        </p:spPr>
      </p:pic>
      <p:sp>
        <p:nvSpPr>
          <p:cNvPr id="11" name="Date Placeholder 2">
            <a:extLst>
              <a:ext uri="{FF2B5EF4-FFF2-40B4-BE49-F238E27FC236}">
                <a16:creationId xmlns:a16="http://schemas.microsoft.com/office/drawing/2014/main" id="{3C9A9B68-7EE0-BD8D-1680-360EA0D74A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05/12/2025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A50F3F5D-4D9E-4574-FB1E-E0A153D96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No. 2     Batch No.         Department of CSE</a:t>
            </a:r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408CA04F-208E-4FCD-3BCD-FAD44E000EBF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EC67FC-8107-4C00-9415-4D1567E899B9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797140DF-A5DE-F9BE-CDC3-1B51D8EA4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5143"/>
            <a:ext cx="10515600" cy="4811486"/>
          </a:xfrm>
        </p:spPr>
        <p:txBody>
          <a:bodyPr>
            <a:normAutofit lnSpcReduction="10000"/>
          </a:bodyPr>
          <a:lstStyle/>
          <a:p>
            <a:r>
              <a:rPr lang="en-IN" sz="2400" b="1" dirty="0"/>
              <a:t>Software </a:t>
            </a:r>
            <a:r>
              <a:rPr lang="en-IN" sz="2400" b="1" dirty="0" err="1"/>
              <a:t>Used:</a:t>
            </a:r>
            <a:r>
              <a:rPr lang="en-IN" sz="2400" dirty="0" err="1"/>
              <a:t>Python</a:t>
            </a:r>
            <a:r>
              <a:rPr lang="en-IN" sz="2400" dirty="0"/>
              <a:t> 3.11, </a:t>
            </a:r>
            <a:r>
              <a:rPr lang="en-IN" sz="2400" dirty="0" err="1"/>
              <a:t>PyTorch</a:t>
            </a:r>
            <a:r>
              <a:rPr lang="en-IN" sz="2400" dirty="0"/>
              <a:t>, Scikit-learn, Imbalanced-learn, SHAP, </a:t>
            </a:r>
            <a:r>
              <a:rPr lang="en-IN" sz="2400" dirty="0" err="1"/>
              <a:t>Optuna</a:t>
            </a:r>
            <a:r>
              <a:rPr lang="en-IN" sz="2400" dirty="0"/>
              <a:t>, Flask API, React + Vite frontend.</a:t>
            </a:r>
          </a:p>
          <a:p>
            <a:r>
              <a:rPr lang="en-IN" sz="2400" b="1" dirty="0"/>
              <a:t>Hardware </a:t>
            </a:r>
            <a:r>
              <a:rPr lang="en-IN" sz="2400" b="1" dirty="0" err="1"/>
              <a:t>Used:</a:t>
            </a:r>
            <a:r>
              <a:rPr lang="en-IN" sz="2400" dirty="0" err="1"/>
              <a:t>Intel</a:t>
            </a:r>
            <a:r>
              <a:rPr lang="en-IN" sz="2400" dirty="0"/>
              <a:t> i5/i7, 8–16 GB RAM, optional GPU support for faster </a:t>
            </a:r>
            <a:r>
              <a:rPr lang="en-IN" sz="2400" dirty="0" err="1"/>
              <a:t>TabNet</a:t>
            </a:r>
            <a:r>
              <a:rPr lang="en-IN" sz="2400" dirty="0"/>
              <a:t>/CNN/LSTM training (Google Colab).</a:t>
            </a:r>
            <a:endParaRPr lang="en-US" sz="2400" dirty="0"/>
          </a:p>
          <a:p>
            <a:pPr marL="0" indent="0" algn="just">
              <a:buNone/>
            </a:pPr>
            <a:r>
              <a:rPr lang="en-IN" b="1" dirty="0"/>
              <a:t>Challenges &amp; Solutions:</a:t>
            </a:r>
            <a:endParaRPr lang="en-US" b="1" dirty="0"/>
          </a:p>
          <a:p>
            <a:pPr algn="just"/>
            <a:r>
              <a:rPr lang="en-US" sz="2400" b="1" dirty="0"/>
              <a:t>Severe class imbalance</a:t>
            </a:r>
            <a:r>
              <a:rPr lang="en-US" sz="2400" dirty="0"/>
              <a:t> → solved using SMOTE + ENN hybrid resampling.</a:t>
            </a:r>
          </a:p>
          <a:p>
            <a:pPr algn="just"/>
            <a:r>
              <a:rPr lang="en-US" sz="2400" b="1" dirty="0"/>
              <a:t>Risk of overfitting</a:t>
            </a:r>
            <a:r>
              <a:rPr lang="en-US" sz="2400" dirty="0"/>
              <a:t> → reduced by dropout layers, tuning learning rate, and early stopping.</a:t>
            </a:r>
          </a:p>
          <a:p>
            <a:pPr algn="just"/>
            <a:r>
              <a:rPr lang="en-US" sz="2400" b="1" dirty="0"/>
              <a:t>Preprocessing mismatch during deployment</a:t>
            </a:r>
            <a:r>
              <a:rPr lang="en-US" sz="2400" dirty="0"/>
              <a:t> → fixed by reusing the exact saved scaler and selector.</a:t>
            </a:r>
          </a:p>
          <a:p>
            <a:pPr algn="just"/>
            <a:r>
              <a:rPr lang="en-US" sz="2400" b="1" dirty="0"/>
              <a:t>Explaining deep learning outputs</a:t>
            </a:r>
            <a:r>
              <a:rPr lang="en-US" sz="2400" dirty="0"/>
              <a:t> → addressed by generating SHAP summary plots.</a:t>
            </a:r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46125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713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677428" cy="722072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05/12/2025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2     Batch No. CG2         Department of CSE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16</a:t>
            </a:fld>
            <a:endParaRPr lang="en-US" dirty="0"/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7725EDE8-9A29-0186-4331-13A5E01505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3211090"/>
              </p:ext>
            </p:extLst>
          </p:nvPr>
        </p:nvGraphicFramePr>
        <p:xfrm>
          <a:off x="859971" y="1393371"/>
          <a:ext cx="10493829" cy="402235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607129">
                  <a:extLst>
                    <a:ext uri="{9D8B030D-6E8A-4147-A177-3AD203B41FA5}">
                      <a16:colId xmlns:a16="http://schemas.microsoft.com/office/drawing/2014/main" val="386458537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7890380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0954197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90422475"/>
                    </a:ext>
                  </a:extLst>
                </a:gridCol>
              </a:tblGrid>
              <a:tr h="670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F1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AUC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92023"/>
                  </a:ext>
                </a:extLst>
              </a:tr>
              <a:tr h="670393">
                <a:tc>
                  <a:txBody>
                    <a:bodyPr/>
                    <a:lstStyle/>
                    <a:p>
                      <a:r>
                        <a:rPr lang="en-IN" sz="2000" b="1" dirty="0"/>
                        <a:t>TabNet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96.19%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0.9627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0.9916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074727"/>
                  </a:ext>
                </a:extLst>
              </a:tr>
              <a:tr h="670393">
                <a:tc>
                  <a:txBody>
                    <a:bodyPr/>
                    <a:lstStyle/>
                    <a:p>
                      <a:r>
                        <a:rPr lang="en-IN" sz="2000" dirty="0"/>
                        <a:t>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96.08%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0.9613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0.9926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951795"/>
                  </a:ext>
                </a:extLst>
              </a:tr>
              <a:tr h="670393">
                <a:tc>
                  <a:txBody>
                    <a:bodyPr/>
                    <a:lstStyle/>
                    <a:p>
                      <a:r>
                        <a:rPr lang="en-IN" sz="2000" dirty="0"/>
                        <a:t>CNN+BiLSTM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95.71%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0.9580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0.9910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5964354"/>
                  </a:ext>
                </a:extLst>
              </a:tr>
              <a:tr h="670393">
                <a:tc>
                  <a:txBody>
                    <a:bodyPr/>
                    <a:lstStyle/>
                    <a:p>
                      <a:r>
                        <a:rPr lang="en-IN" sz="2000" dirty="0"/>
                        <a:t>Attention-LSTM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95.65%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0.9570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0.9904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571892"/>
                  </a:ext>
                </a:extLst>
              </a:tr>
              <a:tr h="670393">
                <a:tc>
                  <a:txBody>
                    <a:bodyPr/>
                    <a:lstStyle/>
                    <a:p>
                      <a:r>
                        <a:rPr lang="en-IN" sz="2000" dirty="0"/>
                        <a:t>1D 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94.66%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0.9477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0.9870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416111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E3F6A89D-E7AF-242E-AF76-42ADAAFD1882}"/>
              </a:ext>
            </a:extLst>
          </p:cNvPr>
          <p:cNvSpPr txBox="1"/>
          <p:nvPr/>
        </p:nvSpPr>
        <p:spPr>
          <a:xfrm>
            <a:off x="838200" y="5751864"/>
            <a:ext cx="11154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TabNet outperformed all other models with 96.19% accuracy and high interpretability through SHAP explainability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1346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713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677428" cy="722072"/>
          </a:xfrm>
          <a:prstGeom prst="rect">
            <a:avLst/>
          </a:prstGeom>
        </p:spPr>
      </p:pic>
      <p:pic>
        <p:nvPicPr>
          <p:cNvPr id="8" name="Content Placeholder 7"/>
          <p:cNvPicPr>
            <a:picLocks noGrp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7508" y="1169779"/>
            <a:ext cx="5398491" cy="4380706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05/12/2025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2     Batch No. CG2   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17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784370" y="5584085"/>
            <a:ext cx="34104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</a:rPr>
              <a:t>Fig.1. Confusion Matrix for tabnet</a:t>
            </a:r>
            <a:endParaRPr lang="en-US" b="1" dirty="0"/>
          </a:p>
        </p:txBody>
      </p:sp>
      <p:sp>
        <p:nvSpPr>
          <p:cNvPr id="9" name="Rectangle 8"/>
          <p:cNvSpPr/>
          <p:nvPr/>
        </p:nvSpPr>
        <p:spPr>
          <a:xfrm>
            <a:off x="7281301" y="5515280"/>
            <a:ext cx="36170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</a:rPr>
              <a:t>Fig.2. SHAP explainability for tabnet</a:t>
            </a:r>
            <a:endParaRPr lang="en-US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B7EA626-E19D-0D2E-6DA2-D49F2FAC902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6764" y="1307516"/>
            <a:ext cx="5667671" cy="4070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697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713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677428" cy="722072"/>
          </a:xfrm>
          <a:prstGeom prst="rect">
            <a:avLst/>
          </a:prstGeom>
        </p:spPr>
      </p:pic>
      <p:pic>
        <p:nvPicPr>
          <p:cNvPr id="10" name="Content Placeholder 9"/>
          <p:cNvPicPr>
            <a:picLocks noGrp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6171" y="1295400"/>
            <a:ext cx="10286999" cy="4293638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05/12/2025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2     Batch No. CG2    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18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038600" y="5562600"/>
            <a:ext cx="47115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Fig.3. Comparison of all deep learning models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1167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22072"/>
            <a:ext cx="10515600" cy="925974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677428" cy="722072"/>
          </a:xfrm>
          <a:prstGeom prst="rect">
            <a:avLst/>
          </a:prstGeom>
        </p:spPr>
      </p:pic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567543"/>
            <a:ext cx="10515600" cy="4609420"/>
          </a:xfrm>
        </p:spPr>
        <p:txBody>
          <a:bodyPr>
            <a:norm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SHAP-guided hybrid resampling deep learning framework achieved high accuracy and interpretability for cardiovascular risk prediction.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TabNet outperformed other models with 96.19% accuracy, proving effective for tabular clinical data.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integration of SMOTE and Random Undersampling successfully handled data imbalance, improving model reliability.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explainability provided clinical insights by identifying key risk factors like age, blood pressure, and cholesterol.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 will focus on deploying the model as a real-time web application and exploring larger, multi-center medical datasets for broader clinical use.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05/12/2025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2     Batch No. CG2 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7201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22072"/>
            <a:ext cx="10515600" cy="925974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677428" cy="722072"/>
          </a:xfrm>
          <a:prstGeom prst="rect">
            <a:avLst/>
          </a:prstGeom>
        </p:spPr>
      </p:pic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44143"/>
            <a:ext cx="10433180" cy="4782485"/>
          </a:xfrm>
        </p:spPr>
        <p:txBody>
          <a:bodyPr>
            <a:noAutofit/>
          </a:bodyPr>
          <a:lstStyle/>
          <a:p>
            <a:pPr marL="342900" lvl="0" indent="-342900" algn="just" fontAlgn="base">
              <a:buFont typeface="+mj-lt"/>
              <a:buAutoNum type="arabicPeriod"/>
            </a:pPr>
            <a:r>
              <a:rPr lang="en-US" sz="1600" dirty="0"/>
              <a:t>El-Sofany, H. F. (2024). Predicting heart diseases using machine learning and different data classification techniques. IEEE Access.</a:t>
            </a:r>
          </a:p>
          <a:p>
            <a:pPr marL="342900" lvl="0" indent="-342900" algn="just" fontAlgn="base">
              <a:buFont typeface="+mj-lt"/>
              <a:buAutoNum type="arabicPeriod"/>
            </a:pPr>
            <a:r>
              <a:rPr lang="en-IN" sz="1600" dirty="0"/>
              <a:t>Cenitta, D., Arjunan, R. V., Paramasivam, G., Arul, N., Palkar, A., &amp; Chadaga, K. (2024). Ischemic Heart Disease Prognosis: A Hybrid Residual Attention-Enhanced LSTM Model. IEEE Access.</a:t>
            </a:r>
            <a:endParaRPr lang="en-US" sz="1600" dirty="0"/>
          </a:p>
          <a:p>
            <a:pPr marL="342900" lvl="0" indent="-342900" algn="just" fontAlgn="base">
              <a:buFont typeface="+mj-lt"/>
              <a:buAutoNum type="arabicPeriod"/>
            </a:pPr>
            <a:r>
              <a:rPr lang="en-US" sz="1600" dirty="0"/>
              <a:t>Sianga, B. E., Mbago, M. C., &amp; Msengwa, A. S. (2025). Predicting the prevalence of cardiovascular diseases using machine learning algorithms. Intelligence-Based Medicine, 11, 100199..</a:t>
            </a:r>
          </a:p>
          <a:p>
            <a:pPr marL="342900" lvl="0" indent="-342900" algn="just" fontAlgn="base">
              <a:buFont typeface="+mj-lt"/>
              <a:buAutoNum type="arabicPeriod"/>
            </a:pPr>
            <a:r>
              <a:rPr lang="en-IN" sz="1600" dirty="0"/>
              <a:t>Pal, P., Singh, H. V., Grover, V., Manikandan, R., Karimi, R., &amp; Khishe, M. (2025). Interactive cardiovascular disease prediction system using learning techniques: Insights from extensive experiments. Results in Control and Optimization, 19, 100560.</a:t>
            </a:r>
            <a:endParaRPr lang="en-US" sz="1600" dirty="0"/>
          </a:p>
          <a:p>
            <a:pPr marL="342900" lvl="0" indent="-342900" algn="just" fontAlgn="base">
              <a:buFont typeface="+mj-lt"/>
              <a:buAutoNum type="arabicPeriod"/>
            </a:pPr>
            <a:r>
              <a:rPr lang="en-US" sz="1600" dirty="0"/>
              <a:t>Efea, Y., &amp; Demirb, L. (2025). The impact of feature selection models on the accuracy of tree-based classification algorithms: Heart disease case. Proc. Comput. Sci, 253, 757-764.</a:t>
            </a:r>
          </a:p>
          <a:p>
            <a:pPr marL="342900" lvl="0" indent="-342900" algn="just" fontAlgn="base">
              <a:buFont typeface="+mj-lt"/>
              <a:buAutoNum type="arabicPeriod"/>
            </a:pPr>
            <a:r>
              <a:rPr lang="en-US" sz="1600" dirty="0"/>
              <a:t>Gupta, A., Singh, A., Kumar, P., Raj, G., &amp; Tomar, V. (2025). Analysis of Machine Learning Techniques for Prediction of Cardiac Diseases. Procedia Computer Science, 259, 1937-1946.</a:t>
            </a:r>
          </a:p>
          <a:p>
            <a:pPr marL="342900" lvl="0" indent="-342900" algn="just" fontAlgn="base">
              <a:buFont typeface="+mj-lt"/>
              <a:buAutoNum type="arabicPeriod"/>
            </a:pPr>
            <a:r>
              <a:rPr lang="en-IN" sz="1600" dirty="0"/>
              <a:t>Selvitopi, Z., &amp; Selvitopi, H. (2025). Machine learning methods for predicting cardiovascular diseases analyzing a hybrid dataset. Procedia Computer Science, 258, 3535-3543.</a:t>
            </a:r>
            <a:endParaRPr lang="en-US" sz="1600" dirty="0"/>
          </a:p>
          <a:p>
            <a:pPr marL="342900" indent="-342900" algn="just" fontAlgn="base">
              <a:buFont typeface="+mj-lt"/>
              <a:buAutoNum type="arabicPeriod"/>
            </a:pPr>
            <a:r>
              <a:rPr lang="en-US" sz="1600" dirty="0"/>
              <a:t>Daharwal, U., Singh, I., &amp; Khekare, G. (2025). Comparison of Machine Learning Algorithms for Heart Disease Prediction. Procedia Computer Science, 260, 12-21.</a:t>
            </a:r>
          </a:p>
          <a:p>
            <a:pPr marL="342900" lvl="0" indent="-342900" fontAlgn="base">
              <a:buFont typeface="+mj-lt"/>
              <a:buAutoNum type="arabicPeriod"/>
            </a:pPr>
            <a:endParaRPr lang="en-US" sz="1600" dirty="0"/>
          </a:p>
          <a:p>
            <a:pPr marL="342900" lvl="0" indent="-342900" fontAlgn="base">
              <a:buFont typeface="+mj-lt"/>
              <a:buAutoNum type="arabicPeriod"/>
            </a:pPr>
            <a:endParaRPr lang="en-US" sz="14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05/12/2025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2     Batch No. CG2 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8266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200"/>
            <a:ext cx="10515600" cy="82574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677428" cy="722072"/>
          </a:xfrm>
          <a:prstGeom prst="rect">
            <a:avLst/>
          </a:prstGeom>
        </p:spPr>
      </p:pic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179272"/>
            <a:ext cx="10515600" cy="4616210"/>
          </a:xfrm>
        </p:spPr>
        <p:txBody>
          <a:bodyPr>
            <a:noAutofit/>
          </a:bodyPr>
          <a:lstStyle/>
          <a:p>
            <a:pPr marL="342900" lvl="0" indent="-342900" algn="just" fontAlgn="base">
              <a:buFont typeface="+mj-lt"/>
              <a:buAutoNum type="arabicPeriod" startAt="9"/>
            </a:pPr>
            <a:r>
              <a:rPr lang="en-US" sz="1600" dirty="0"/>
              <a:t>Sreekumari, S., Bhalla, R., &amp; Singh, G. (2025). Feature Selection and Model Evaluation for Heart Disease Prediction Using Ensemble Methods. Procedia Computer Science, 259, 1282-1295.</a:t>
            </a:r>
          </a:p>
          <a:p>
            <a:pPr marL="342900" lvl="0" indent="-342900" algn="just" fontAlgn="base">
              <a:buFont typeface="+mj-lt"/>
              <a:buAutoNum type="arabicPeriod" startAt="9"/>
            </a:pPr>
            <a:r>
              <a:rPr lang="en-US" sz="1600" dirty="0"/>
              <a:t>Trigka, M., &amp; Dritsas, E. (2025). Improving Cardiovascular Disease Prediction With Deep Learning and Correlation-Aware SMOTE. IEEE Access.</a:t>
            </a:r>
          </a:p>
          <a:p>
            <a:pPr marL="342900" lvl="0" indent="-342900" algn="just" fontAlgn="base">
              <a:buFont typeface="+mj-lt"/>
              <a:buAutoNum type="arabicPeriod" startAt="9"/>
            </a:pPr>
            <a:r>
              <a:rPr lang="en-IN" sz="1600" dirty="0"/>
              <a:t>Mahajan, A., Kaushik, B., Rahmani, M. K. I., &amp; Banga, A. S. (2024). A hybrid feature selection and ensemble stacked learning models on multi-variant CVD datasets for effective classification. IEEE Access, 12, 87023-87038.</a:t>
            </a:r>
            <a:endParaRPr lang="en-US" sz="1600" dirty="0"/>
          </a:p>
          <a:p>
            <a:pPr marL="342900" lvl="0" indent="-342900" algn="just" fontAlgn="base">
              <a:buFont typeface="+mj-lt"/>
              <a:buAutoNum type="arabicPeriod" startAt="9"/>
            </a:pPr>
            <a:r>
              <a:rPr lang="en-IN" sz="1600" dirty="0"/>
              <a:t>Sinha, N., Kumar, M. G., Joshi, A. M., &amp; Cenkeramaddi, L. R. (2023). DASMcC: Data Augmented SMOTE Multi-class Classifier for prediction of Cardiovascular Diseases using time series features. IEEE Access, 11, 117643-117655.</a:t>
            </a:r>
            <a:endParaRPr lang="en-US" sz="1600" dirty="0"/>
          </a:p>
          <a:p>
            <a:pPr marL="342900" lvl="0" indent="-342900" algn="just" fontAlgn="base">
              <a:buFont typeface="+mj-lt"/>
              <a:buAutoNum type="arabicPeriod" startAt="9"/>
            </a:pPr>
            <a:r>
              <a:rPr lang="en-IN" sz="1600" dirty="0"/>
              <a:t>Chushig-Muzo, D., Calero-D´ ıaz, H., Lara-Abelenda, F. J., G´omez Mart´ ınez, V., Granja, C., &amp; Soguero-Ruiz, C. (2024). Interpretable data driven approach based on feature selection methods and GAN-based models for cardiovascular risk prediction in diabetic patients. IEEE Access, 12, 84292-84305.</a:t>
            </a:r>
            <a:endParaRPr lang="en-US" sz="1600" dirty="0"/>
          </a:p>
          <a:p>
            <a:pPr marL="342900" lvl="0" indent="-342900" algn="just" fontAlgn="base">
              <a:buFont typeface="+mj-lt"/>
              <a:buAutoNum type="arabicPeriod" startAt="9"/>
            </a:pPr>
            <a:r>
              <a:rPr lang="en-IN" sz="1600" dirty="0"/>
              <a:t>Vinay, N. A., Vidyasagar, K. N., Rohith, S., Pruthviraja, D., Supreeth, S., &amp;Bharathi, S. H. (2024). An RNN-Bi LSTM based multi decision GAN approach for the recognition of cardiovascular disease (CVD) from heart beat sound: a feature optimization process. IEEE Access, 12, 65482 65502.</a:t>
            </a:r>
            <a:endParaRPr lang="en-US" sz="1600" dirty="0"/>
          </a:p>
          <a:p>
            <a:pPr marL="342900" lvl="0" indent="-342900" algn="just" fontAlgn="base">
              <a:buFont typeface="+mj-lt"/>
              <a:buAutoNum type="arabicPeriod" startAt="9"/>
            </a:pPr>
            <a:r>
              <a:rPr lang="en-IN" sz="1600" dirty="0"/>
              <a:t>Adhikari, A., DeJesus, S., Swe, N., Vaidean, G., Nahrwold, R., Joshua, J., ... &amp; Gianos, E. (2024). Traditional and non-traditional cardiovascular risk factor profiles in young patients with coronary artery disease. American Heart Journal Plus: Cardiology Research and Practice, 47, 100471.</a:t>
            </a:r>
            <a:endParaRPr lang="en-US" sz="16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05/12/2025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2     Batch No.  CG2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7132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22072"/>
            <a:ext cx="10515600" cy="925974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&amp; ANSWERS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677428" cy="722072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05/12/2025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2     Batch No. CG2        Department of CSE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BB32ED-7C2D-C6D3-A005-562B97B16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4372" y="25876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now open the floor for any questions from the panel and audience.</a:t>
            </a:r>
          </a:p>
          <a:p>
            <a:pPr marL="0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would be glad to clarify or discuss any part of my work in more detail.</a:t>
            </a:r>
          </a:p>
          <a:p>
            <a:pPr marL="0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valuable feedback and suggestions are always welcome.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58438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22072"/>
            <a:ext cx="10515600" cy="925974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677428" cy="722072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05/12/2025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2     Batch No. CG2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23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E3E784-02AB-20A9-2460-C6636CCF8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8046"/>
            <a:ext cx="10515600" cy="452891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sincerely thank my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guide, faculty, and department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their continuous support and guidance throughout this project, and I am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thankful for the opportunity to present my work today.</a:t>
            </a:r>
          </a:p>
          <a:p>
            <a:pPr marL="0" indent="0" algn="just">
              <a:buNone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Information:</a:t>
            </a:r>
          </a:p>
          <a:p>
            <a:pPr marL="0" indent="0" algn="just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aadhi0509@gmail.com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harinisunkara2005@gmail.com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sattenapallisada@gmail.com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7799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856</TotalTime>
  <Words>2821</Words>
  <Application>Microsoft Office PowerPoint</Application>
  <PresentationFormat>Widescreen</PresentationFormat>
  <Paragraphs>325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Office Theme</vt:lpstr>
      <vt:lpstr>Department of Computer Science Engineering</vt:lpstr>
      <vt:lpstr>OUTLINE</vt:lpstr>
      <vt:lpstr>ABSTRACT</vt:lpstr>
      <vt:lpstr>INTRODUCTION</vt:lpstr>
      <vt:lpstr>LITERATURE SURVEY</vt:lpstr>
      <vt:lpstr>LITERATURE SURVEY</vt:lpstr>
      <vt:lpstr>LITERATURE SURVEY</vt:lpstr>
      <vt:lpstr>REASEARCH GAPS &amp; OUR SOLUTIONS</vt:lpstr>
      <vt:lpstr>PROBLEM STATEMENT</vt:lpstr>
      <vt:lpstr>OBJECTIVES</vt:lpstr>
      <vt:lpstr>FLOW DIAGRAM</vt:lpstr>
      <vt:lpstr>METHODOLOGY</vt:lpstr>
      <vt:lpstr>METHODOLOGY</vt:lpstr>
      <vt:lpstr>IMPLEMENTATION</vt:lpstr>
      <vt:lpstr>IMPLEMENTATION</vt:lpstr>
      <vt:lpstr>RESULTS &amp; ANALYSIS</vt:lpstr>
      <vt:lpstr>RESULTS &amp; ANALYSIS</vt:lpstr>
      <vt:lpstr>RESULTS &amp; ANALYSIS</vt:lpstr>
      <vt:lpstr>CONCLUSION &amp; FUTURE SCOPE</vt:lpstr>
      <vt:lpstr>REFERENCES</vt:lpstr>
      <vt:lpstr>REFERENCES</vt:lpstr>
      <vt:lpstr>QUESTIONS &amp; ANSWERS</vt:lpstr>
      <vt:lpstr>ACKNOWLEDGEMENTS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Adi Lakshmi</dc:creator>
  <cp:lastModifiedBy>t.adilakshmi@outlook.com</cp:lastModifiedBy>
  <cp:revision>44</cp:revision>
  <dcterms:created xsi:type="dcterms:W3CDTF">2025-11-08T07:07:45Z</dcterms:created>
  <dcterms:modified xsi:type="dcterms:W3CDTF">2025-12-04T16:35:48Z</dcterms:modified>
</cp:coreProperties>
</file>